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75" r:id="rId4"/>
    <p:sldId id="258" r:id="rId5"/>
    <p:sldId id="276" r:id="rId6"/>
    <p:sldId id="281" r:id="rId7"/>
    <p:sldId id="277" r:id="rId8"/>
    <p:sldId id="260" r:id="rId9"/>
    <p:sldId id="263" r:id="rId10"/>
    <p:sldId id="274" r:id="rId11"/>
    <p:sldId id="278" r:id="rId12"/>
    <p:sldId id="279" r:id="rId13"/>
    <p:sldId id="280" r:id="rId14"/>
    <p:sldId id="271" r:id="rId15"/>
    <p:sldId id="282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48" d="100"/>
          <a:sy n="48" d="100"/>
        </p:scale>
        <p:origin x="29" y="7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1B4B7-FB85-4A33-A2E6-2CC8A83F7BC4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0A4DF-A782-44FA-9E33-A92804E67C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79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0A4DF-A782-44FA-9E33-A92804E67C7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033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0556" y="194674"/>
            <a:ext cx="8543290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0978" y="1704357"/>
            <a:ext cx="11659164" cy="4453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140" y="1312042"/>
            <a:ext cx="893572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</a:rPr>
              <a:t>Secure File Encryption and Decryption System Using C++</a:t>
            </a:r>
            <a:endParaRPr sz="6000" dirty="0">
              <a:solidFill>
                <a:srgbClr val="FF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3560" y="2667000"/>
            <a:ext cx="11353800" cy="50654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15" algn="ctr">
              <a:lnSpc>
                <a:spcPts val="2880"/>
              </a:lnSpc>
              <a:defRPr sz="1800" b="1">
                <a:latin typeface="Arial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DSA0105 - Object Oriented Programming with C++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500">
                <a:latin typeface="Arial"/>
              </a:defRPr>
            </a:pP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30360" y="5312658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</a:t>
            </a:r>
            <a:r>
              <a:rPr dirty="0"/>
              <a:t>. Jagadeesh K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F848B6-17DC-FBD6-6D3B-85D86A1E7A84}"/>
              </a:ext>
            </a:extLst>
          </p:cNvPr>
          <p:cNvSpPr txBox="1"/>
          <p:nvPr/>
        </p:nvSpPr>
        <p:spPr>
          <a:xfrm>
            <a:off x="76200" y="5081826"/>
            <a:ext cx="60944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latin typeface="Arial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>
              <a:defRPr sz="1500"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BHUVANESH H (192524027)</a:t>
            </a:r>
          </a:p>
          <a:p>
            <a:pPr algn="l">
              <a:defRPr sz="1500"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SACHIN (192525045)</a:t>
            </a:r>
          </a:p>
          <a:p>
            <a:pPr algn="l">
              <a:defRPr sz="1500"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BALAJI .S.A (1921260146)</a:t>
            </a:r>
          </a:p>
          <a:p>
            <a:pPr algn="l">
              <a:defRPr sz="1500"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RAM CHARAN (192525043)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F2EB3F-30AE-BC07-823E-475C4372FAB6}"/>
              </a:ext>
            </a:extLst>
          </p:cNvPr>
          <p:cNvSpPr txBox="1"/>
          <p:nvPr/>
        </p:nvSpPr>
        <p:spPr>
          <a:xfrm>
            <a:off x="7620000" y="5143381"/>
            <a:ext cx="6094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Arial"/>
              </a:defRPr>
            </a:pPr>
            <a:r>
              <a:rPr lang="en-IN" sz="1600" dirty="0"/>
              <a:t>Supervised by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4478BD-6291-088E-B0A6-5055FFDB5094}"/>
              </a:ext>
            </a:extLst>
          </p:cNvPr>
          <p:cNvSpPr txBox="1"/>
          <p:nvPr/>
        </p:nvSpPr>
        <p:spPr>
          <a:xfrm>
            <a:off x="3962400" y="3233112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CAPESTONE PROJECT- REVIEW-1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1500" y="685800"/>
            <a:ext cx="34290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2570" marR="5080" indent="-1500505">
              <a:lnSpc>
                <a:spcPct val="100000"/>
              </a:lnSpc>
              <a:spcBef>
                <a:spcPts val="100"/>
              </a:spcBef>
              <a:tabLst>
                <a:tab pos="2189480" algn="l"/>
                <a:tab pos="4749800" algn="l"/>
              </a:tabLst>
            </a:pPr>
            <a:r>
              <a:t>OBJECTIVE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19200" y="1981200"/>
            <a:ext cx="10725150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file encryption and decryption system using C++.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protect confidential files from unauthorized access using AES-256 encryption.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secure file decryption using the correct encryption key or password.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key generation and verification.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file integrity using SHA-256 hashing.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reports showing encryption, decryption, and file verification status</a:t>
            </a:r>
          </a:p>
          <a:p>
            <a:pPr marL="342900" marR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Wingdings" panose="05000000000000000000" pitchFamily="2" charset="2"/>
              <a:buChar char="Ø"/>
              <a:tabLst/>
              <a:defRPr sz="1700">
                <a:latin typeface="Arial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8100" y="602299"/>
            <a:ext cx="4495800" cy="1102058"/>
          </a:xfrm>
          <a:prstGeom prst="rect">
            <a:avLst/>
          </a:prstGeom>
        </p:spPr>
        <p:txBody>
          <a:bodyPr vert="horz" wrap="square" lIns="0" tIns="4208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INTRODUCTION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133600"/>
            <a:ext cx="1097280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 a secure file encryption and decryption system using C++.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Protect files from unauthorized access using AES-256 encryption.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Allow users to encrypt files and decrypt them using the correct key or password.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Verify file integrity using SHA-256 hashing.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reports showing encryption, decryption, and verification status.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Provide a simple, user-friendly interface for secure file management. </a:t>
            </a:r>
          </a:p>
          <a:p>
            <a:pPr>
              <a:lnSpc>
                <a:spcPct val="150000"/>
              </a:lnSpc>
            </a:pPr>
            <a:br>
              <a:rPr lang="en-IN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3155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304800"/>
            <a:ext cx="671804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2570" marR="5080" indent="-1500505" algn="ctr">
              <a:lnSpc>
                <a:spcPct val="100000"/>
              </a:lnSpc>
              <a:spcBef>
                <a:spcPts val="100"/>
              </a:spcBef>
              <a:tabLst>
                <a:tab pos="2189480" algn="l"/>
                <a:tab pos="4749800" algn="l"/>
              </a:tabLst>
            </a:pPr>
            <a:r>
              <a:rPr dirty="0"/>
              <a:t>PROBLEM STATEMENT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9600" y="1572399"/>
            <a:ext cx="11582400" cy="611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stored without encryption may be accessed by unauthorized users, leading to data leakage.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Unencrypted files do not provide sufficient protection for sensitive or confidential information.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file protection and management can be time-consuming and error-prone.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encryption keys or passwords can prevent users from successfully decrypting files.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C++ system is needed to provide reliable file encryption, decryption, and integrity checking. </a:t>
            </a:r>
          </a:p>
          <a:p>
            <a:pPr>
              <a:lnSpc>
                <a:spcPct val="150000"/>
              </a:lnSpc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838200"/>
            <a:ext cx="58293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2570" marR="5080" indent="-1500505" algn="ctr">
              <a:lnSpc>
                <a:spcPct val="100000"/>
              </a:lnSpc>
              <a:spcBef>
                <a:spcPts val="100"/>
              </a:spcBef>
              <a:tabLst>
                <a:tab pos="2189480" algn="l"/>
                <a:tab pos="4749800" algn="l"/>
              </a:tabLst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97839"/>
            <a:ext cx="10972800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C++ to provide secure file encryption and decryption.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files and encrypt them using the AES-256 algorithm.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files can be decrypted using the correct key or password.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key generation helps protect sensitive file contents.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hashing is used to verify file integrity and detect modifications.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reports showing encryption, decryption, and verification results.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64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5BFB7-BA88-0191-7509-518D5B05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16CC19E-1D39-7E6B-624A-75DD3C581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838200"/>
            <a:ext cx="640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2570" marR="5080" indent="-1500505" algn="ctr">
              <a:lnSpc>
                <a:spcPct val="100000"/>
              </a:lnSpc>
              <a:spcBef>
                <a:spcPts val="100"/>
              </a:spcBef>
              <a:tabLst>
                <a:tab pos="2189480" algn="l"/>
                <a:tab pos="4749800" algn="l"/>
              </a:tabLst>
            </a:pPr>
            <a:r>
              <a:rPr dirty="0"/>
              <a:t>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8F87C-8EEF-D99C-A197-00B24AB25AF7}"/>
              </a:ext>
            </a:extLst>
          </p:cNvPr>
          <p:cNvSpPr txBox="1"/>
          <p:nvPr/>
        </p:nvSpPr>
        <p:spPr>
          <a:xfrm>
            <a:off x="1199959" y="1676400"/>
            <a:ext cx="1015384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C++: Implements file selection, encryption, decryption, and reporting.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OpenSSL: Provides cryptographic functions for secure file processing.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AES-256: Encrypts files to protect confidential information.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SHA-256: Generates hashes to help verify file integrity.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 (MinGW): Compiles and runs the C++ program.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Code: Used for coding, debugging, and testing.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Handling: Uses C++ file streams to read and write files.</a:t>
            </a: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latin typeface="Arial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813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343838"/>
            <a:ext cx="7772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2570" marR="5080" indent="-1500505" algn="ctr">
              <a:lnSpc>
                <a:spcPct val="100000"/>
              </a:lnSpc>
              <a:spcBef>
                <a:spcPts val="100"/>
              </a:spcBef>
              <a:tabLst>
                <a:tab pos="2189480" algn="l"/>
                <a:tab pos="4749800" algn="l"/>
              </a:tabLst>
            </a:pPr>
            <a:r>
              <a:rPr dirty="0"/>
              <a:t>SYSTEM ARCHITECTURE</a:t>
            </a:r>
          </a:p>
        </p:txBody>
      </p:sp>
      <p:sp>
        <p:nvSpPr>
          <p:cNvPr id="5" name="Rounded Rectangle 1">
            <a:extLst>
              <a:ext uri="{FF2B5EF4-FFF2-40B4-BE49-F238E27FC236}">
                <a16:creationId xmlns:a16="http://schemas.microsoft.com/office/drawing/2014/main" id="{06AB222C-1F07-09ED-DEB2-A1FBF4661267}"/>
              </a:ext>
            </a:extLst>
          </p:cNvPr>
          <p:cNvSpPr/>
          <p:nvPr/>
        </p:nvSpPr>
        <p:spPr>
          <a:xfrm>
            <a:off x="1371600" y="1752600"/>
            <a:ext cx="4495800" cy="338806"/>
          </a:xfrm>
          <a:prstGeom prst="roundRect">
            <a:avLst/>
          </a:prstGeom>
          <a:solidFill>
            <a:srgbClr val="0F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6BB533A4-0D3E-A61C-1B01-E44A9610FDAA}"/>
              </a:ext>
            </a:extLst>
          </p:cNvPr>
          <p:cNvSpPr/>
          <p:nvPr/>
        </p:nvSpPr>
        <p:spPr>
          <a:xfrm>
            <a:off x="1371600" y="2302752"/>
            <a:ext cx="4495800" cy="495178"/>
          </a:xfrm>
          <a:prstGeom prst="roundRect">
            <a:avLst/>
          </a:prstGeom>
          <a:solidFill>
            <a:srgbClr val="44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(C++)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Selection and Operation Menu</a:t>
            </a:r>
          </a:p>
        </p:txBody>
      </p:sp>
      <p:sp>
        <p:nvSpPr>
          <p:cNvPr id="9" name="Down Arrow 3">
            <a:extLst>
              <a:ext uri="{FF2B5EF4-FFF2-40B4-BE49-F238E27FC236}">
                <a16:creationId xmlns:a16="http://schemas.microsoft.com/office/drawing/2014/main" id="{804630D2-0273-4A92-E149-D54EF4A6CD88}"/>
              </a:ext>
            </a:extLst>
          </p:cNvPr>
          <p:cNvSpPr/>
          <p:nvPr/>
        </p:nvSpPr>
        <p:spPr>
          <a:xfrm>
            <a:off x="3446873" y="2831744"/>
            <a:ext cx="345254" cy="329864"/>
          </a:xfrm>
          <a:prstGeom prst="downArrow">
            <a:avLst/>
          </a:prstGeom>
          <a:solidFill>
            <a:srgbClr val="8CA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B7855E74-E932-8AD8-2561-77F16C4D1293}"/>
              </a:ext>
            </a:extLst>
          </p:cNvPr>
          <p:cNvSpPr/>
          <p:nvPr/>
        </p:nvSpPr>
        <p:spPr>
          <a:xfrm>
            <a:off x="1371600" y="3163285"/>
            <a:ext cx="4495800" cy="495178"/>
          </a:xfrm>
          <a:prstGeom prst="roundRect">
            <a:avLst/>
          </a:prstGeom>
          <a:solidFill>
            <a:srgbClr val="D9E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C35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File Selection and Management</a:t>
            </a:r>
          </a:p>
          <a:p>
            <a:pPr algn="ctr">
              <a:defRPr sz="1400">
                <a:solidFill>
                  <a:srgbClr val="0F1C35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validation and access checking</a:t>
            </a:r>
          </a:p>
        </p:txBody>
      </p:sp>
      <p:sp>
        <p:nvSpPr>
          <p:cNvPr id="15" name="Down Arrow 6">
            <a:extLst>
              <a:ext uri="{FF2B5EF4-FFF2-40B4-BE49-F238E27FC236}">
                <a16:creationId xmlns:a16="http://schemas.microsoft.com/office/drawing/2014/main" id="{FD6165E7-20BC-A4EA-35A8-06EA6C1598C7}"/>
              </a:ext>
            </a:extLst>
          </p:cNvPr>
          <p:cNvSpPr/>
          <p:nvPr/>
        </p:nvSpPr>
        <p:spPr>
          <a:xfrm>
            <a:off x="4680649" y="3695403"/>
            <a:ext cx="237995" cy="307265"/>
          </a:xfrm>
          <a:prstGeom prst="downArrow">
            <a:avLst/>
          </a:prstGeom>
          <a:solidFill>
            <a:srgbClr val="8CA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BAAF8D17-644C-75B9-70D6-3BE45B5AC45D}"/>
              </a:ext>
            </a:extLst>
          </p:cNvPr>
          <p:cNvSpPr/>
          <p:nvPr/>
        </p:nvSpPr>
        <p:spPr>
          <a:xfrm>
            <a:off x="1371600" y="4022141"/>
            <a:ext cx="2135505" cy="547302"/>
          </a:xfrm>
          <a:prstGeom prst="roundRect">
            <a:avLst/>
          </a:prstGeom>
          <a:solidFill>
            <a:srgbClr val="9EE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C35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algn="ctr">
              <a:defRPr sz="1400">
                <a:solidFill>
                  <a:srgbClr val="0F1C35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and Key Generation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5C5DCDFF-9789-0331-6E15-A07F70E5B8C8}"/>
              </a:ext>
            </a:extLst>
          </p:cNvPr>
          <p:cNvSpPr/>
          <p:nvPr/>
        </p:nvSpPr>
        <p:spPr>
          <a:xfrm>
            <a:off x="3731895" y="4026090"/>
            <a:ext cx="2135505" cy="547302"/>
          </a:xfrm>
          <a:prstGeom prst="roundRect">
            <a:avLst/>
          </a:prstGeom>
          <a:solidFill>
            <a:srgbClr val="FDC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C35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</a:p>
          <a:p>
            <a:pPr algn="ctr">
              <a:defRPr sz="1400">
                <a:solidFill>
                  <a:srgbClr val="0F1C35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and Key Verification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078C8AA5-5286-5E28-F0DC-5D3E7FD0EBE6}"/>
              </a:ext>
            </a:extLst>
          </p:cNvPr>
          <p:cNvSpPr/>
          <p:nvPr/>
        </p:nvSpPr>
        <p:spPr>
          <a:xfrm>
            <a:off x="1371600" y="4902045"/>
            <a:ext cx="4495800" cy="495178"/>
          </a:xfrm>
          <a:prstGeom prst="roundRect">
            <a:avLst/>
          </a:prstGeom>
          <a:solidFill>
            <a:srgbClr val="B1B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F1C35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Integrity Verification and Report Generation</a:t>
            </a:r>
          </a:p>
          <a:p>
            <a:pPr algn="ctr">
              <a:defRPr sz="1400">
                <a:solidFill>
                  <a:srgbClr val="0F1C35"/>
                </a:solidFill>
              </a:defRPr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SHA-256 hash verification and status reports</a:t>
            </a: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D5FA0A25-7169-76F6-8BAE-24EB3E6446DF}"/>
              </a:ext>
            </a:extLst>
          </p:cNvPr>
          <p:cNvSpPr/>
          <p:nvPr/>
        </p:nvSpPr>
        <p:spPr>
          <a:xfrm>
            <a:off x="1371600" y="5782545"/>
            <a:ext cx="4495800" cy="495178"/>
          </a:xfrm>
          <a:prstGeom prst="roundRect">
            <a:avLst/>
          </a:prstGeom>
          <a:solidFill>
            <a:srgbClr val="1B43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File · Decrypted File · Integrity Status · Reports</a:t>
            </a:r>
          </a:p>
        </p:txBody>
      </p:sp>
      <p:sp>
        <p:nvSpPr>
          <p:cNvPr id="33" name="Down Arrow 6">
            <a:extLst>
              <a:ext uri="{FF2B5EF4-FFF2-40B4-BE49-F238E27FC236}">
                <a16:creationId xmlns:a16="http://schemas.microsoft.com/office/drawing/2014/main" id="{284789A6-56D9-FB54-C141-7F5AB28B334B}"/>
              </a:ext>
            </a:extLst>
          </p:cNvPr>
          <p:cNvSpPr/>
          <p:nvPr/>
        </p:nvSpPr>
        <p:spPr>
          <a:xfrm>
            <a:off x="2320354" y="3695403"/>
            <a:ext cx="237995" cy="307265"/>
          </a:xfrm>
          <a:prstGeom prst="downArrow">
            <a:avLst/>
          </a:prstGeom>
          <a:solidFill>
            <a:srgbClr val="8CA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Down Arrow 6">
            <a:extLst>
              <a:ext uri="{FF2B5EF4-FFF2-40B4-BE49-F238E27FC236}">
                <a16:creationId xmlns:a16="http://schemas.microsoft.com/office/drawing/2014/main" id="{D989F855-26F7-A201-89FE-559747B12005}"/>
              </a:ext>
            </a:extLst>
          </p:cNvPr>
          <p:cNvSpPr/>
          <p:nvPr/>
        </p:nvSpPr>
        <p:spPr>
          <a:xfrm>
            <a:off x="2320353" y="4593973"/>
            <a:ext cx="237995" cy="307265"/>
          </a:xfrm>
          <a:prstGeom prst="downArrow">
            <a:avLst/>
          </a:prstGeom>
          <a:solidFill>
            <a:srgbClr val="8CA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Down Arrow 6">
            <a:extLst>
              <a:ext uri="{FF2B5EF4-FFF2-40B4-BE49-F238E27FC236}">
                <a16:creationId xmlns:a16="http://schemas.microsoft.com/office/drawing/2014/main" id="{79A262D9-87A7-5055-26B8-CA5A6FF0FC3D}"/>
              </a:ext>
            </a:extLst>
          </p:cNvPr>
          <p:cNvSpPr/>
          <p:nvPr/>
        </p:nvSpPr>
        <p:spPr>
          <a:xfrm>
            <a:off x="4686745" y="4597413"/>
            <a:ext cx="237995" cy="307265"/>
          </a:xfrm>
          <a:prstGeom prst="downArrow">
            <a:avLst/>
          </a:prstGeom>
          <a:solidFill>
            <a:srgbClr val="8CA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Down Arrow 3">
            <a:extLst>
              <a:ext uri="{FF2B5EF4-FFF2-40B4-BE49-F238E27FC236}">
                <a16:creationId xmlns:a16="http://schemas.microsoft.com/office/drawing/2014/main" id="{D258F263-CA22-2E02-A994-4747584CB2E1}"/>
              </a:ext>
            </a:extLst>
          </p:cNvPr>
          <p:cNvSpPr/>
          <p:nvPr/>
        </p:nvSpPr>
        <p:spPr>
          <a:xfrm>
            <a:off x="3464746" y="5419695"/>
            <a:ext cx="345254" cy="362850"/>
          </a:xfrm>
          <a:prstGeom prst="downArrow">
            <a:avLst/>
          </a:prstGeom>
          <a:solidFill>
            <a:srgbClr val="8CA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3EFF691-E1C1-3355-01DA-019FDB8D9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2" y="1804107"/>
            <a:ext cx="5334462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17828" y="1935480"/>
            <a:ext cx="7239000" cy="4642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select files from the local system for secure processing.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the file path and checks whether the selected file exists.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file read and write permissions before processing.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file details, including file name, type, and size.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choose encryption or decryption operations.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invalid file paths and file access errors.</a:t>
            </a: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>
                <a:latin typeface="Arial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FFBD3-11A2-AEB2-39DF-CB563642B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1905000"/>
            <a:ext cx="3825572" cy="41303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963FC0-3458-4F4B-A7D8-D7F9BA303407}"/>
              </a:ext>
            </a:extLst>
          </p:cNvPr>
          <p:cNvSpPr txBox="1"/>
          <p:nvPr/>
        </p:nvSpPr>
        <p:spPr>
          <a:xfrm>
            <a:off x="84221" y="68718"/>
            <a:ext cx="1752600" cy="152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983ED-4FF1-4A6D-9752-B146AE022DD0}"/>
              </a:ext>
            </a:extLst>
          </p:cNvPr>
          <p:cNvSpPr txBox="1"/>
          <p:nvPr/>
        </p:nvSpPr>
        <p:spPr>
          <a:xfrm>
            <a:off x="10339137" y="91100"/>
            <a:ext cx="1752600" cy="14564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BA5C0F-C3B6-578D-9727-B9C98ED6F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7" y="0"/>
            <a:ext cx="1181202" cy="13488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2D15982-E600-DA18-5C66-C0234E34A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5287" y="198137"/>
            <a:ext cx="1272650" cy="115072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609600"/>
            <a:ext cx="1028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635" marR="5080" indent="-3163570">
              <a:lnSpc>
                <a:spcPct val="100000"/>
              </a:lnSpc>
              <a:spcBef>
                <a:spcPts val="100"/>
              </a:spcBef>
              <a:tabLst>
                <a:tab pos="2399665" algn="l"/>
                <a:tab pos="2818765" algn="l"/>
              </a:tabLst>
            </a:pPr>
            <a:r>
              <a:rPr sz="4000" dirty="0"/>
              <a:t>Module 1: File Selection and Management</a:t>
            </a:r>
            <a:endParaRPr sz="4000" spc="-1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26720" y="1856220"/>
            <a:ext cx="6241643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select files that require encryption.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or securely derives a cryptographic key for file protection.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AES-256 algorithm to encrypt file contents.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unique initialization vector (IV) for each encryption operation.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the encrypted data in a separate output file.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encryption status and reports any errors during processing.</a:t>
            </a:r>
          </a:p>
          <a:p>
            <a: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>
                <a:latin typeface="Arial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17064A-52E3-E1F1-205E-2689614EE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363" y="1823051"/>
            <a:ext cx="5418194" cy="43884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4555DF-7819-D62E-5678-95BA8D8E1381}"/>
              </a:ext>
            </a:extLst>
          </p:cNvPr>
          <p:cNvSpPr txBox="1"/>
          <p:nvPr/>
        </p:nvSpPr>
        <p:spPr>
          <a:xfrm>
            <a:off x="84221" y="68718"/>
            <a:ext cx="1752600" cy="152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27A300-6B9E-8D64-DDFC-E529AB9A8EB7}"/>
              </a:ext>
            </a:extLst>
          </p:cNvPr>
          <p:cNvSpPr txBox="1"/>
          <p:nvPr/>
        </p:nvSpPr>
        <p:spPr>
          <a:xfrm>
            <a:off x="10339137" y="91100"/>
            <a:ext cx="1752600" cy="14564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8F2F1A-DD68-871E-824E-D104F8C5C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7" y="0"/>
            <a:ext cx="1181202" cy="13488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EDB020-5CC3-1EBB-0595-D62A93108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5287" y="198137"/>
            <a:ext cx="1272650" cy="115072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837" y="459308"/>
            <a:ext cx="9753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5665" marR="5080" indent="-2133600">
              <a:lnSpc>
                <a:spcPct val="100000"/>
              </a:lnSpc>
              <a:spcBef>
                <a:spcPts val="100"/>
              </a:spcBef>
              <a:tabLst>
                <a:tab pos="2399665" algn="l"/>
                <a:tab pos="2750820" algn="l"/>
                <a:tab pos="2818765" algn="l"/>
                <a:tab pos="4712970" algn="l"/>
              </a:tabLst>
            </a:pPr>
            <a:r>
              <a:rPr sz="3900" dirty="0"/>
              <a:t>Module 2: Encryption and Key Generation</a:t>
            </a:r>
            <a:endParaRPr sz="3900" spc="-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93077" y="2006772"/>
            <a:ext cx="7162800" cy="4273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select previously encrypted files for decryption.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 the correct encryption key or password to access the protected file.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AES-256 algorithm to convert encrypted data back into its original 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Restores the decrypted file only after successful authentication and verification.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decryption status and error messages for incorrect keys or corrupted files.</a:t>
            </a:r>
          </a:p>
          <a:p>
            <a:pPr marL="342900" marR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>
                <a:latin typeface="Arial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966A1-D8D8-16F9-0B7E-A4403CAAA4E6}"/>
              </a:ext>
            </a:extLst>
          </p:cNvPr>
          <p:cNvSpPr txBox="1"/>
          <p:nvPr/>
        </p:nvSpPr>
        <p:spPr>
          <a:xfrm>
            <a:off x="84221" y="68718"/>
            <a:ext cx="1752600" cy="152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FC199-C2C1-B619-EBCD-3D6227EB9062}"/>
              </a:ext>
            </a:extLst>
          </p:cNvPr>
          <p:cNvSpPr txBox="1"/>
          <p:nvPr/>
        </p:nvSpPr>
        <p:spPr>
          <a:xfrm>
            <a:off x="10339137" y="91100"/>
            <a:ext cx="1752600" cy="14564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FA03CF-A699-7399-38F9-FAE94B0EF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7" y="0"/>
            <a:ext cx="1181202" cy="13488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E607E0-2E9E-7299-5CD0-60ADC89FA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287" y="198137"/>
            <a:ext cx="1272650" cy="115072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5637" y="532890"/>
            <a:ext cx="9829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5665" marR="5080" indent="-2133600">
              <a:lnSpc>
                <a:spcPct val="100000"/>
              </a:lnSpc>
              <a:spcBef>
                <a:spcPts val="100"/>
              </a:spcBef>
              <a:tabLst>
                <a:tab pos="2399665" algn="l"/>
                <a:tab pos="2750820" algn="l"/>
                <a:tab pos="2818765" algn="l"/>
                <a:tab pos="4712970" algn="l"/>
              </a:tabLst>
            </a:pPr>
            <a:r>
              <a:rPr sz="4000" dirty="0"/>
              <a:t>Module 3: Decryption and Key Verification</a:t>
            </a:r>
            <a:endParaRPr sz="4000" spc="-1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149366-DD50-F90B-5D18-586CB5175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968" y="1737635"/>
            <a:ext cx="4376232" cy="427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052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1000" y="1948017"/>
            <a:ext cx="6400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SHA-256 hash of files to support integrity verification.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current hash with a previously recorded hash value.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possible file modifications when the hash values do not match.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encryption, decryption, and verification operation details.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 containing file names, operation status, and timestamps.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verification results, including integrity match, mismatch, or processing errors.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1E877D-302A-8B76-766C-1D2538731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2129856"/>
            <a:ext cx="5100835" cy="4160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9B3337-2738-258D-4FB9-69B5B08999BC}"/>
              </a:ext>
            </a:extLst>
          </p:cNvPr>
          <p:cNvSpPr txBox="1"/>
          <p:nvPr/>
        </p:nvSpPr>
        <p:spPr>
          <a:xfrm>
            <a:off x="84221" y="68718"/>
            <a:ext cx="1752600" cy="152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2A4520-D0F7-1FBB-F908-E0942B197FC6}"/>
              </a:ext>
            </a:extLst>
          </p:cNvPr>
          <p:cNvSpPr txBox="1"/>
          <p:nvPr/>
        </p:nvSpPr>
        <p:spPr>
          <a:xfrm>
            <a:off x="10339137" y="91100"/>
            <a:ext cx="1752600" cy="14564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B42D62-A5B6-5623-680B-243A574E5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7" y="0"/>
            <a:ext cx="1181202" cy="13488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257CCB-5B03-E4F3-B28F-DCDD66661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5287" y="198137"/>
            <a:ext cx="1272650" cy="115072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328735"/>
            <a:ext cx="985255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5665" marR="5080" indent="-2133600">
              <a:lnSpc>
                <a:spcPct val="100000"/>
              </a:lnSpc>
              <a:spcBef>
                <a:spcPts val="100"/>
              </a:spcBef>
              <a:tabLst>
                <a:tab pos="2399665" algn="l"/>
                <a:tab pos="2750820" algn="l"/>
                <a:tab pos="2818765" algn="l"/>
                <a:tab pos="4712970" algn="l"/>
              </a:tabLst>
            </a:pPr>
            <a:r>
              <a:rPr sz="4000" dirty="0"/>
              <a:t>Module 4: File Integrity Verification and Report Generation</a:t>
            </a:r>
            <a:endParaRPr sz="4000" spc="-10" dirty="0"/>
          </a:p>
        </p:txBody>
      </p:sp>
    </p:spTree>
    <p:extLst>
      <p:ext uri="{BB962C8B-B14F-4D97-AF65-F5344CB8AC3E}">
        <p14:creationId xmlns:p14="http://schemas.microsoft.com/office/powerpoint/2010/main" val="394172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9700" y="492370"/>
            <a:ext cx="9372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5665" marR="5080" indent="-2133600" algn="ctr">
              <a:lnSpc>
                <a:spcPct val="100000"/>
              </a:lnSpc>
              <a:spcBef>
                <a:spcPts val="100"/>
              </a:spcBef>
              <a:tabLst>
                <a:tab pos="2399665" algn="l"/>
                <a:tab pos="2750820" algn="l"/>
                <a:tab pos="2818765" algn="l"/>
                <a:tab pos="4712970" algn="l"/>
              </a:tabLst>
            </a:pPr>
            <a:r>
              <a:rPr lang="en-US" sz="3200" spc="-10" dirty="0"/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960FB-54DE-EED5-CA5E-A8CA3008D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160" y="1600200"/>
            <a:ext cx="5235394" cy="4800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E33559-2008-90F0-AE24-7833B2591126}"/>
              </a:ext>
            </a:extLst>
          </p:cNvPr>
          <p:cNvSpPr txBox="1"/>
          <p:nvPr/>
        </p:nvSpPr>
        <p:spPr>
          <a:xfrm>
            <a:off x="533400" y="185890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encrypts selected files using AES-256.</a:t>
            </a:r>
          </a:p>
          <a:p>
            <a:pPr marL="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Decrypts protected files using the correct key or password.</a:t>
            </a:r>
          </a:p>
          <a:p>
            <a:pPr marL="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Restores the original file after successful decryption.</a:t>
            </a:r>
          </a:p>
          <a:p>
            <a:pPr marL="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Verifies file integrity using SHA-256 hash comparison.</a:t>
            </a:r>
          </a:p>
          <a:p>
            <a:pPr marL="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success or failure messages for each operation.</a:t>
            </a:r>
          </a:p>
          <a:p>
            <a:pPr marL="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 containing file names, operation status, and timestamps.</a:t>
            </a:r>
            <a:endParaRPr lang="en-IN" sz="2400" b="0" i="0" dirty="0">
              <a:solidFill>
                <a:srgbClr val="EDEDE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051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0D14018-4EDA-3CBA-B494-8E889E9C6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81201" y="2057400"/>
            <a:ext cx="5303520" cy="738664"/>
          </a:xfrm>
        </p:spPr>
        <p:txBody>
          <a:bodyPr/>
          <a:lstStyle/>
          <a:p>
            <a:pPr algn="l"/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b="1" dirty="0">
              <a:solidFill>
                <a:srgbClr val="EDEDE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1276C46-725C-B960-884F-5F973E1CE0FA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59039" y="2057400"/>
            <a:ext cx="5303520" cy="738664"/>
          </a:xfrm>
        </p:spPr>
        <p:txBody>
          <a:bodyPr/>
          <a:lstStyle/>
          <a:p>
            <a:pPr algn="l"/>
            <a:r>
              <a:rPr lang="en-IN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b="1" dirty="0">
              <a:solidFill>
                <a:srgbClr val="EDEDE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3400" y="2590800"/>
            <a:ext cx="58293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Protects files using AES-256 encryption.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Allows secure file decryption with the correct key.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Detects file modifications using SHA-256 hashing.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Provides simple file management.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Generates reports of file operations.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DF2B6-EC34-8F70-7781-BFC875BECAAB}"/>
              </a:ext>
            </a:extLst>
          </p:cNvPr>
          <p:cNvSpPr txBox="1"/>
          <p:nvPr/>
        </p:nvSpPr>
        <p:spPr>
          <a:xfrm>
            <a:off x="6368562" y="2590800"/>
            <a:ext cx="58293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Losing the encryption key may cause permanent data loss.</a:t>
            </a:r>
          </a:p>
          <a:p>
            <a:pPr marL="34290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Encrypting large files may take more time.</a:t>
            </a:r>
          </a:p>
          <a:p>
            <a:pPr marL="34290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key management can be challenging.</a:t>
            </a:r>
          </a:p>
          <a:p>
            <a:pPr marL="34290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Corrupted files may fail to decrypt.</a:t>
            </a:r>
          </a:p>
          <a:p>
            <a:pPr marL="342900" marR="0" lvl="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a compatible cryptographic library such as OpenSSL.</a:t>
            </a:r>
            <a:endParaRPr lang="en-IN" sz="2400" b="0" i="0" dirty="0">
              <a:solidFill>
                <a:srgbClr val="EDEDE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950401-9CD8-6CB8-A2F5-7D293F43C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830489"/>
              </p:ext>
            </p:extLst>
          </p:nvPr>
        </p:nvGraphicFramePr>
        <p:xfrm>
          <a:off x="568960" y="1685052"/>
          <a:ext cx="11394440" cy="395273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697220">
                  <a:extLst>
                    <a:ext uri="{9D8B030D-6E8A-4147-A177-3AD203B41FA5}">
                      <a16:colId xmlns:a16="http://schemas.microsoft.com/office/drawing/2014/main" val="682346760"/>
                    </a:ext>
                  </a:extLst>
                </a:gridCol>
                <a:gridCol w="5697220">
                  <a:extLst>
                    <a:ext uri="{9D8B030D-6E8A-4147-A177-3AD203B41FA5}">
                      <a16:colId xmlns:a16="http://schemas.microsoft.com/office/drawing/2014/main" val="76296218"/>
                    </a:ext>
                  </a:extLst>
                </a:gridCol>
              </a:tblGrid>
              <a:tr h="79291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37573"/>
                  </a:ext>
                </a:extLst>
              </a:tr>
              <a:tr h="315982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437765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8AE1AE-F50F-E69A-FDB3-D6DCA818B8DB}"/>
              </a:ext>
            </a:extLst>
          </p:cNvPr>
          <p:cNvCxnSpPr>
            <a:cxnSpLocks/>
          </p:cNvCxnSpPr>
          <p:nvPr/>
        </p:nvCxnSpPr>
        <p:spPr>
          <a:xfrm>
            <a:off x="568960" y="1685052"/>
            <a:ext cx="0" cy="3952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15F20D-96B6-3EDF-12A7-3AAEB6ABE785}"/>
              </a:ext>
            </a:extLst>
          </p:cNvPr>
          <p:cNvCxnSpPr>
            <a:cxnSpLocks/>
          </p:cNvCxnSpPr>
          <p:nvPr/>
        </p:nvCxnSpPr>
        <p:spPr>
          <a:xfrm>
            <a:off x="11963400" y="1676400"/>
            <a:ext cx="0" cy="3952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353C7B-610D-A86D-1BCB-8A2BF243B6A5}"/>
              </a:ext>
            </a:extLst>
          </p:cNvPr>
          <p:cNvCxnSpPr>
            <a:cxnSpLocks/>
          </p:cNvCxnSpPr>
          <p:nvPr/>
        </p:nvCxnSpPr>
        <p:spPr>
          <a:xfrm>
            <a:off x="6400800" y="1676400"/>
            <a:ext cx="0" cy="3952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19D328-63E8-D9CB-7E98-22243B918973}"/>
              </a:ext>
            </a:extLst>
          </p:cNvPr>
          <p:cNvSpPr txBox="1"/>
          <p:nvPr/>
        </p:nvSpPr>
        <p:spPr>
          <a:xfrm>
            <a:off x="84221" y="68718"/>
            <a:ext cx="1752600" cy="152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0FA2F0-3DCC-E62C-B353-D17F5BF49758}"/>
              </a:ext>
            </a:extLst>
          </p:cNvPr>
          <p:cNvSpPr txBox="1"/>
          <p:nvPr/>
        </p:nvSpPr>
        <p:spPr>
          <a:xfrm>
            <a:off x="10339137" y="91100"/>
            <a:ext cx="1752600" cy="14564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9F7C0C7-E8E3-96F0-E760-EF264C2C1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7" y="0"/>
            <a:ext cx="1181202" cy="134885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0C5984-818C-EA83-07E9-82936C1FC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287" y="198137"/>
            <a:ext cx="1272650" cy="115072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3376" y="306606"/>
            <a:ext cx="10045247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5665" marR="5080" indent="-2133600" algn="ctr">
              <a:spcBef>
                <a:spcPts val="100"/>
              </a:spcBef>
              <a:tabLst>
                <a:tab pos="2399665" algn="l"/>
                <a:tab pos="2750820" algn="l"/>
                <a:tab pos="2818765" algn="l"/>
                <a:tab pos="4712970" algn="l"/>
              </a:tabLst>
            </a:pPr>
            <a:r>
              <a:rPr dirty="0"/>
              <a:t>ADVANTAGES</a:t>
            </a:r>
            <a:r>
              <a:rPr lang="en-US" dirty="0"/>
              <a:t> &amp; </a:t>
            </a:r>
            <a:r>
              <a:rPr lang="en-IN" dirty="0"/>
              <a:t>DISADVANTAGES</a:t>
            </a:r>
            <a:br>
              <a:rPr lang="en-IN" dirty="0"/>
            </a:br>
            <a:endParaRPr sz="3800" spc="-10" dirty="0"/>
          </a:p>
        </p:txBody>
      </p:sp>
    </p:spTree>
    <p:extLst>
      <p:ext uri="{BB962C8B-B14F-4D97-AF65-F5344CB8AC3E}">
        <p14:creationId xmlns:p14="http://schemas.microsoft.com/office/powerpoint/2010/main" val="2763390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5889" y="381000"/>
            <a:ext cx="3984444" cy="953135"/>
          </a:xfrm>
          <a:prstGeom prst="rect">
            <a:avLst/>
          </a:prstGeom>
        </p:spPr>
        <p:txBody>
          <a:bodyPr vert="horz" wrap="square" lIns="0" tIns="27335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t>CONCLUSION</a:t>
            </a:r>
            <a:endParaRPr spc="-1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752600"/>
            <a:ext cx="10329627" cy="431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project provides a secure file encryption and decryption system using C++.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AES-256 encryption helps protect confidential files from unauthorized access.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Secure key verification allows authorized users to decrypt files.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SHA-256 hashing helps verify file integrity and detect modifications.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Report generation provides a clear record of file operations.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system can be enhanced with a graphical interface and improved key management in the future</a:t>
            </a:r>
          </a:p>
          <a:p>
            <a:pPr marR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tabLst/>
              <a:defRPr sz="1700">
                <a:latin typeface="Arial"/>
              </a:defRPr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6F0D-C8DA-5C75-3E94-2152027C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2D8FEF-D059-ADD9-B3BF-0D759D54C6E7}"/>
              </a:ext>
            </a:extLst>
          </p:cNvPr>
          <p:cNvSpPr txBox="1"/>
          <p:nvPr/>
        </p:nvSpPr>
        <p:spPr>
          <a:xfrm>
            <a:off x="4876800" y="3044279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225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980</Words>
  <Application>Microsoft Office PowerPoint</Application>
  <PresentationFormat>Widescreen</PresentationFormat>
  <Paragraphs>117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Times New Roman</vt:lpstr>
      <vt:lpstr>Wingdings</vt:lpstr>
      <vt:lpstr>Office Theme</vt:lpstr>
      <vt:lpstr>Secure File Encryption and Decryption System Using C++</vt:lpstr>
      <vt:lpstr>OBJECTIVE</vt:lpstr>
      <vt:lpstr>INTRODUCTION</vt:lpstr>
      <vt:lpstr>PROBLEM STATEMENT</vt:lpstr>
      <vt:lpstr>PROPOSED SYSTEM</vt:lpstr>
      <vt:lpstr>TECHNOLOGIES USED</vt:lpstr>
      <vt:lpstr>SYSTEM ARCHITECTURE</vt:lpstr>
      <vt:lpstr>Module 1: File Selection and Management</vt:lpstr>
      <vt:lpstr>Module 2: Encryption and Key Generation</vt:lpstr>
      <vt:lpstr>Module 3: Decryption and Key Verification</vt:lpstr>
      <vt:lpstr>Module 4: File Integrity Verification and Report Generation</vt:lpstr>
      <vt:lpstr>IMPLEMENTATION</vt:lpstr>
      <vt:lpstr>ADVANTAGES &amp; DISADVANTAGES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File Encryption and Decryption System Using C++</dc:title>
  <dc:subject>DSA0105 - Object Oriented Programming with C++ Capstone Project</dc:subject>
  <dc:creator>S. Sachin and Team</dc:creator>
  <cp:lastModifiedBy>saravanan c</cp:lastModifiedBy>
  <cp:revision>15</cp:revision>
  <dcterms:created xsi:type="dcterms:W3CDTF">2025-12-23T02:57:00Z</dcterms:created>
  <dcterms:modified xsi:type="dcterms:W3CDTF">2026-10-26T03:06:38Z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2025-12-23T05:30:00Z</vt:filetime>
  </property>
  <property fmtid="{D5CDD505-2E9C-101B-9397-08002B2CF9AE}" pid="3" name="Creator">
    <vt:lpwstr>Google</vt:lpwstr>
  </property>
  <property fmtid="{D5CDD505-2E9C-101B-9397-08002B2CF9AE}" pid="4" name="LastSaved">
    <vt:filetime>2025-12-23T05:30:00Z</vt:filetime>
  </property>
  <property fmtid="{D5CDD505-2E9C-101B-9397-08002B2CF9AE}" pid="5" name="ICV">
    <vt:lpwstr>B80F0B820318478DB5301D07834E7AAF_13</vt:lpwstr>
  </property>
  <property fmtid="{D5CDD505-2E9C-101B-9397-08002B2CF9AE}" pid="6" name="KSOProductBuildVer">
    <vt:lpwstr>1033-12.2.0.23196</vt:lpwstr>
  </property>
</Properties>
</file>